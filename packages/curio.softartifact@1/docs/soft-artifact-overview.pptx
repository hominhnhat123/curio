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6344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6000" b="1" i="0">
                <a:solidFill>
                  <a:srgbClr val="FFFFFF"/>
                </a:solidFill>
                <a:latin typeface="Calibri"/>
              </a:rPr>
              <a:t>Soft Artifact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803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0" i="0">
                <a:solidFill>
                  <a:srgbClr val="93C5FD"/>
                </a:solidFill>
                <a:latin typeface="Calibri"/>
              </a:rPr>
              <a:t>Documents as first-class nodes in Curio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1188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CBD5E1"/>
                </a:solidFill>
                <a:latin typeface="Calibri"/>
              </a:rPr>
              <a:t>Drop a PDF, notes file, or meeting transcript on the canvas and let an LLM explain, guide, and build dataflows from it — with citations.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8920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64748B"/>
                </a:solidFill>
                <a:latin typeface="Calibri"/>
              </a:rPr>
              <a:t>curio.softartifact@1  ·  package + Flask blueprint + host glue + prompts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2563EB"/>
                </a:solidFill>
                <a:latin typeface="Calibri"/>
              </a:rP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E293B"/>
                </a:solidFill>
                <a:latin typeface="Calibri"/>
              </a:rPr>
              <a:t>Why: workflow knowledge lives in documents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852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700" b="1">
                <a:solidFill>
                  <a:srgbClr val="2563EB"/>
                </a:solidFill>
              </a:rPr>
              <a:t>•  </a:t>
            </a:r>
            <a:r>
              <a:rPr sz="1700" b="1" i="0">
                <a:solidFill>
                  <a:srgbClr val="1E293B"/>
                </a:solidFill>
                <a:latin typeface="Calibri"/>
              </a:rPr>
              <a:t>The knowledge that shapes a workflow rarely starts as data:</a:t>
            </a:r>
          </a:p>
          <a:p>
            <a:pPr lvl="1">
              <a:lnSpc>
                <a:spcPct val="105000"/>
              </a:lnSpc>
              <a:spcAft>
                <a:spcPts val="400"/>
              </a:spcAft>
            </a:pPr>
            <a:r>
              <a:rPr sz="1500" b="1">
                <a:solidFill>
                  <a:srgbClr val="64748B"/>
                </a:solidFill>
              </a:rPr>
              <a:t>–  </a:t>
            </a:r>
            <a:r>
              <a:rPr sz="1500" b="0" i="0">
                <a:solidFill>
                  <a:srgbClr val="1E293B"/>
                </a:solidFill>
                <a:latin typeface="Calibri"/>
              </a:rPr>
              <a:t>policy documents and dataset change notices</a:t>
            </a:r>
          </a:p>
          <a:p>
            <a:pPr lvl="1">
              <a:lnSpc>
                <a:spcPct val="105000"/>
              </a:lnSpc>
              <a:spcAft>
                <a:spcPts val="400"/>
              </a:spcAft>
            </a:pPr>
            <a:r>
              <a:rPr sz="1500" b="1">
                <a:solidFill>
                  <a:srgbClr val="64748B"/>
                </a:solidFill>
              </a:rPr>
              <a:t>–  </a:t>
            </a:r>
            <a:r>
              <a:rPr sz="1500" b="0" i="0">
                <a:solidFill>
                  <a:srgbClr val="1E293B"/>
                </a:solidFill>
                <a:latin typeface="Calibri"/>
              </a:rPr>
              <a:t>data dictionaries and schema PDFs</a:t>
            </a:r>
          </a:p>
          <a:p>
            <a:pPr lvl="1">
              <a:lnSpc>
                <a:spcPct val="105000"/>
              </a:lnSpc>
              <a:spcAft>
                <a:spcPts val="400"/>
              </a:spcAft>
            </a:pPr>
            <a:r>
              <a:rPr sz="1500" b="1">
                <a:solidFill>
                  <a:srgbClr val="64748B"/>
                </a:solidFill>
              </a:rPr>
              <a:t>–  </a:t>
            </a:r>
            <a:r>
              <a:rPr sz="1500" b="0" i="0">
                <a:solidFill>
                  <a:srgbClr val="1E293B"/>
                </a:solidFill>
                <a:latin typeface="Calibri"/>
              </a:rPr>
              <a:t>meeting transcripts and weekly memos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700" b="1">
                <a:solidFill>
                  <a:srgbClr val="2563EB"/>
                </a:solidFill>
              </a:rPr>
              <a:t>•  </a:t>
            </a:r>
            <a:r>
              <a:rPr sz="1700" b="0" i="0">
                <a:solidFill>
                  <a:srgbClr val="1E293B"/>
                </a:solidFill>
                <a:latin typeface="Calibri"/>
              </a:rPr>
              <a:t>Today that context stays in another window — the analyst re-types it into goals, code, and queries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700" b="1">
                <a:solidFill>
                  <a:srgbClr val="2563EB"/>
                </a:solidFill>
              </a:rPr>
              <a:t>•  </a:t>
            </a:r>
            <a:r>
              <a:rPr sz="1700" b="1" i="0">
                <a:solidFill>
                  <a:srgbClr val="1E293B"/>
                </a:solidFill>
                <a:latin typeface="Calibri"/>
              </a:rPr>
              <a:t>Soft Artifact makes the document itself a node:</a:t>
            </a:r>
          </a:p>
          <a:p>
            <a:pPr lvl="1">
              <a:lnSpc>
                <a:spcPct val="105000"/>
              </a:lnSpc>
              <a:spcAft>
                <a:spcPts val="400"/>
              </a:spcAft>
            </a:pPr>
            <a:r>
              <a:rPr sz="1500" b="1">
                <a:solidFill>
                  <a:srgbClr val="64748B"/>
                </a:solidFill>
              </a:rPr>
              <a:t>–  </a:t>
            </a:r>
            <a:r>
              <a:rPr sz="1500" b="0" i="0">
                <a:solidFill>
                  <a:srgbClr val="1E293B"/>
                </a:solidFill>
                <a:latin typeface="Calibri"/>
              </a:rPr>
              <a:t>uploaded once, chunked and stored server-side</a:t>
            </a:r>
          </a:p>
          <a:p>
            <a:pPr lvl="1">
              <a:lnSpc>
                <a:spcPct val="105000"/>
              </a:lnSpc>
              <a:spcAft>
                <a:spcPts val="400"/>
              </a:spcAft>
            </a:pPr>
            <a:r>
              <a:rPr sz="1500" b="1">
                <a:solidFill>
                  <a:srgbClr val="64748B"/>
                </a:solidFill>
              </a:rPr>
              <a:t>–  </a:t>
            </a:r>
            <a:r>
              <a:rPr sz="1500" b="0" i="0">
                <a:solidFill>
                  <a:srgbClr val="1E293B"/>
                </a:solidFill>
                <a:latin typeface="Calibri"/>
              </a:rPr>
              <a:t>queried by role-specific LLM flows</a:t>
            </a:r>
          </a:p>
          <a:p>
            <a:pPr lvl="1">
              <a:lnSpc>
                <a:spcPct val="105000"/>
              </a:lnSpc>
              <a:spcAft>
                <a:spcPts val="400"/>
              </a:spcAft>
            </a:pPr>
            <a:r>
              <a:rPr sz="1500" b="1">
                <a:solidFill>
                  <a:srgbClr val="64748B"/>
                </a:solidFill>
              </a:rPr>
              <a:t>–  </a:t>
            </a:r>
            <a:r>
              <a:rPr sz="1500" b="0" i="0">
                <a:solidFill>
                  <a:srgbClr val="1E293B"/>
                </a:solidFill>
                <a:latin typeface="Calibri"/>
              </a:rPr>
              <a:t>every answer cites the exact page / transcript turn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554480"/>
            <a:ext cx="47548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0" y="1554480"/>
            <a:ext cx="82296" cy="20116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9168" y="1664208"/>
            <a:ext cx="44439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2563EB"/>
                </a:solidFill>
                <a:latin typeface="Calibri"/>
              </a:rPr>
              <a:t>One node = one document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59168" y="2029968"/>
            <a:ext cx="4443984" cy="1444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0" i="0">
                <a:solidFill>
                  <a:srgbClr val="1E293B"/>
                </a:solidFill>
                <a:latin typeface="Calibri"/>
              </a:rPr>
              <a:t>The node's role decides what the LLM does with that document: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 i="0">
                <a:solidFill>
                  <a:srgbClr val="2563EB"/>
                </a:solidFill>
                <a:latin typeface="Calibri"/>
              </a:rPr>
              <a:t>inform · explain · transform · expand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3749039"/>
            <a:ext cx="47548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0" y="3749039"/>
            <a:ext cx="82296" cy="201168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59168" y="3858767"/>
            <a:ext cx="44439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059669"/>
                </a:solidFill>
                <a:latin typeface="Calibri"/>
              </a:rPr>
              <a:t>Grounded, not generated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59168" y="4224527"/>
            <a:ext cx="4443984" cy="1444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0" i="0">
                <a:solidFill>
                  <a:srgbClr val="1E293B"/>
                </a:solidFill>
                <a:latin typeface="Calibri"/>
              </a:rPr>
              <a:t>Answers are built from retrieved passages and cite them as [1], [2], …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0" i="0">
                <a:solidFill>
                  <a:srgbClr val="1E293B"/>
                </a:solidFill>
                <a:latin typeface="Calibri"/>
              </a:rPr>
              <a:t>PDF chunks cite a page; transcript chunks cite a speaker and timestamp.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2563EB"/>
                </a:solidFill>
                <a:latin typeface="Calibri"/>
              </a:rPr>
              <a:t>WHAT IT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E293B"/>
                </a:solidFill>
                <a:latin typeface="Calibri"/>
              </a:rPr>
              <a:t>Four roles, one node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548640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5486400" cy="566928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73352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inform</a:t>
            </a:r>
            <a:r>
              <a:rPr sz="1300" b="0" i="1">
                <a:solidFill>
                  <a:srgbClr val="F1F5F9"/>
                </a:solidFill>
                <a:latin typeface="Calibri"/>
              </a:rPr>
              <a:t>   What should I add next?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13432"/>
            <a:ext cx="50292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2563EB"/>
                </a:solidFill>
              </a:rPr>
              <a:t>•  </a:t>
            </a:r>
            <a:r>
              <a:rPr sz="1300" b="0" i="0">
                <a:solidFill>
                  <a:srgbClr val="1E293B"/>
                </a:solidFill>
                <a:latin typeface="Calibri"/>
              </a:rPr>
              <a:t>Looks at the document and the current canvas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2563EB"/>
                </a:solidFill>
              </a:rPr>
              <a:t>•  </a:t>
            </a:r>
            <a:r>
              <a:rPr sz="1300" b="0" i="0">
                <a:solidFill>
                  <a:srgbClr val="1E293B"/>
                </a:solidFill>
                <a:latin typeface="Calibri"/>
              </a:rPr>
              <a:t>Returns short guidance + 1–3 recommended next nodes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2563EB"/>
                </a:solidFill>
              </a:rPr>
              <a:t>•  </a:t>
            </a:r>
            <a:r>
              <a:rPr sz="1300" b="0" i="0">
                <a:solidFill>
                  <a:srgbClr val="1E293B"/>
                </a:solidFill>
                <a:latin typeface="Calibri"/>
              </a:rPr>
              <a:t>Each suggestion cites the passages that justify 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1600200"/>
            <a:ext cx="548640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46520" y="1600200"/>
            <a:ext cx="5486400" cy="566928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673352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explain</a:t>
            </a:r>
            <a:r>
              <a:rPr sz="1300" b="0" i="1">
                <a:solidFill>
                  <a:srgbClr val="F1F5F9"/>
                </a:solidFill>
                <a:latin typeface="Calibri"/>
              </a:rPr>
              <a:t>   What does this dataflow do?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313432"/>
            <a:ext cx="50292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2563EB"/>
                </a:solidFill>
              </a:rPr>
              <a:t>•  </a:t>
            </a:r>
            <a:r>
              <a:rPr sz="1300" b="0" i="0">
                <a:solidFill>
                  <a:srgbClr val="1E293B"/>
                </a:solidFill>
                <a:latin typeface="Calibri"/>
              </a:rPr>
              <a:t>Narrates how the canvas operationalizes the document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2563EB"/>
                </a:solidFill>
              </a:rPr>
              <a:t>•  </a:t>
            </a:r>
            <a:r>
              <a:rPr sz="1300" b="0" i="0">
                <a:solidFill>
                  <a:srgbClr val="1E293B"/>
                </a:solidFill>
                <a:latin typeface="Calibri"/>
              </a:rPr>
              <a:t>Plain language, ~400 words max, inline [n] citations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2563EB"/>
                </a:solidFill>
              </a:rPr>
              <a:t>•  </a:t>
            </a:r>
            <a:r>
              <a:rPr sz="1300" b="0" i="0">
                <a:solidFill>
                  <a:srgbClr val="1E293B"/>
                </a:solidFill>
                <a:latin typeface="Calibri"/>
              </a:rPr>
              <a:t>If the canvas is empty: what the dataflow should do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206240"/>
            <a:ext cx="548640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" y="4206240"/>
            <a:ext cx="5486400" cy="566928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279392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transform</a:t>
            </a:r>
            <a:r>
              <a:rPr sz="1300" b="0" i="1">
                <a:solidFill>
                  <a:srgbClr val="F1F5F9"/>
                </a:solidFill>
                <a:latin typeface="Calibri"/>
              </a:rPr>
              <a:t>   Build it for 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19472"/>
            <a:ext cx="50292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2563EB"/>
                </a:solidFill>
              </a:rPr>
              <a:t>•  </a:t>
            </a:r>
            <a:r>
              <a:rPr sz="1300" b="0" i="0">
                <a:solidFill>
                  <a:srgbClr val="1E293B"/>
                </a:solidFill>
                <a:latin typeface="Calibri"/>
              </a:rPr>
              <a:t>Proposes one complete, runnable replacement dataflow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2563EB"/>
                </a:solidFill>
              </a:rPr>
              <a:t>•  </a:t>
            </a:r>
            <a:r>
              <a:rPr sz="1300" b="0" i="0">
                <a:solidFill>
                  <a:srgbClr val="1E293B"/>
                </a:solidFill>
                <a:latin typeface="Calibri"/>
              </a:rPr>
              <a:t>Grounded in document passages + the live canvas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2563EB"/>
                </a:solidFill>
              </a:rPr>
              <a:t>•  </a:t>
            </a:r>
            <a:r>
              <a:rPr sz="1300" b="0" i="0">
                <a:solidFill>
                  <a:srgbClr val="1E293B"/>
                </a:solidFill>
                <a:latin typeface="Calibri"/>
              </a:rPr>
              <a:t>Real code in every node — no TODO shells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4206240"/>
            <a:ext cx="548640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46520" y="4206240"/>
            <a:ext cx="5486400" cy="566928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4279392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expand</a:t>
            </a:r>
            <a:r>
              <a:rPr sz="1300" b="0" i="1">
                <a:solidFill>
                  <a:srgbClr val="F1F5F9"/>
                </a:solidFill>
                <a:latin typeface="Calibri"/>
              </a:rPr>
              <a:t>   What else could we ask?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4919472"/>
            <a:ext cx="50292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2563EB"/>
                </a:solidFill>
              </a:rPr>
              <a:t>•  </a:t>
            </a:r>
            <a:r>
              <a:rPr sz="1300" b="0" i="0">
                <a:solidFill>
                  <a:srgbClr val="1E293B"/>
                </a:solidFill>
                <a:latin typeface="Calibri"/>
              </a:rPr>
              <a:t>Proposes a new or branched dataflow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2563EB"/>
                </a:solidFill>
              </a:rPr>
              <a:t>•  </a:t>
            </a:r>
            <a:r>
              <a:rPr sz="1300" b="0" i="0">
                <a:solidFill>
                  <a:srgbClr val="1E293B"/>
                </a:solidFill>
                <a:latin typeface="Calibri"/>
              </a:rPr>
              <a:t>What-if scenarios, comparisons, alternative data sources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2563EB"/>
                </a:solidFill>
              </a:rPr>
              <a:t>•  </a:t>
            </a:r>
            <a:r>
              <a:rPr sz="1300" b="0" i="0">
                <a:solidFill>
                  <a:srgbClr val="1E293B"/>
                </a:solidFill>
                <a:latin typeface="Calibri"/>
              </a:rPr>
              <a:t>Same strict Trill-JSON contract as transform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2563EB"/>
                </a:solidFill>
                <a:latin typeface="Calibri"/>
              </a:rPr>
              <a:t>USER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E293B"/>
                </a:solidFill>
                <a:latin typeface="Calibri"/>
              </a:rPr>
              <a:t>Using the node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45920"/>
            <a:ext cx="2084831" cy="1417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55648"/>
            <a:ext cx="1810511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1E40AF"/>
                </a:solidFill>
                <a:latin typeface="Calibri"/>
              </a:rPr>
              <a:t>1 · Drop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21408"/>
            <a:ext cx="1810511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Calibri"/>
              </a:rPr>
              <a:t>Add a Soft Artifact node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Calibri"/>
              </a:rPr>
              <a:t>(data category)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87751" y="2354580.0"/>
            <a:ext cx="292608" cy="0.0"/>
          </a:xfrm>
          <a:prstGeom prst="bentConnector3">
            <a:avLst/>
          </a:prstGeom>
          <a:ln w="28575">
            <a:solidFill>
              <a:srgbClr val="2563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80359" y="1645920"/>
            <a:ext cx="2084831" cy="1417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19" y="1755648"/>
            <a:ext cx="1810511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1E40AF"/>
                </a:solidFill>
                <a:latin typeface="Calibri"/>
              </a:rPr>
              <a:t>2 · Pick role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19" y="2121408"/>
            <a:ext cx="1810511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Calibri"/>
              </a:rPr>
              <a:t>inform / explain /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Calibri"/>
              </a:rPr>
              <a:t>transform / expand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965190" y="2354580.0"/>
            <a:ext cx="292608" cy="0.0"/>
          </a:xfrm>
          <a:prstGeom prst="bentConnector3">
            <a:avLst/>
          </a:prstGeom>
          <a:ln w="28575">
            <a:solidFill>
              <a:srgbClr val="2563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257798" y="1645920"/>
            <a:ext cx="2084831" cy="1417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58" y="1755648"/>
            <a:ext cx="1810511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1E40AF"/>
                </a:solidFill>
                <a:latin typeface="Calibri"/>
              </a:rPr>
              <a:t>3 · Upload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58" y="2121408"/>
            <a:ext cx="1810511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Calibri"/>
              </a:rPr>
              <a:t>.pdf · .txt · .md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Calibri"/>
              </a:rPr>
              <a:t>(transcripts auto-detected)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342629" y="2354580.0"/>
            <a:ext cx="292608" cy="0.0"/>
          </a:xfrm>
          <a:prstGeom prst="bentConnector3">
            <a:avLst/>
          </a:prstGeom>
          <a:ln w="28575">
            <a:solidFill>
              <a:srgbClr val="2563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635237" y="1645920"/>
            <a:ext cx="2084831" cy="1417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397" y="1755648"/>
            <a:ext cx="1810511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1E40AF"/>
                </a:solidFill>
                <a:latin typeface="Calibri"/>
              </a:rPr>
              <a:t>4 · Ingest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397" y="2121408"/>
            <a:ext cx="1810511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Calibri"/>
              </a:rPr>
              <a:t>backend chunks + stores;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Calibri"/>
              </a:rPr>
              <a:t>role flow runs automatically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720068" y="2354580.0"/>
            <a:ext cx="292608" cy="0.0"/>
          </a:xfrm>
          <a:prstGeom prst="bentConnector3">
            <a:avLst/>
          </a:prstGeom>
          <a:ln w="28575">
            <a:solidFill>
              <a:srgbClr val="2563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0012676" y="1645920"/>
            <a:ext cx="2084831" cy="1417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49836" y="1755648"/>
            <a:ext cx="1810511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1E40AF"/>
                </a:solidFill>
                <a:latin typeface="Calibri"/>
              </a:rPr>
              <a:t>5 ·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49836" y="2121408"/>
            <a:ext cx="1810511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Calibri"/>
              </a:rPr>
              <a:t>results render in the node;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Calibri"/>
              </a:rPr>
              <a:t>proposals get Apply / Cancel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474720"/>
            <a:ext cx="10972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700" b="1">
                <a:solidFill>
                  <a:srgbClr val="2563EB"/>
                </a:solidFill>
              </a:rPr>
              <a:t>•  </a:t>
            </a:r>
            <a:r>
              <a:rPr sz="1700" b="1" i="0">
                <a:solidFill>
                  <a:srgbClr val="1E293B"/>
                </a:solidFill>
                <a:latin typeface="Calibri"/>
              </a:rPr>
              <a:t>What you see in the node</a:t>
            </a:r>
          </a:p>
          <a:p>
            <a:pPr lvl="1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64748B"/>
                </a:solidFill>
              </a:rPr>
              <a:t>–  </a:t>
            </a:r>
            <a:r>
              <a:rPr sz="1300" b="0" i="0">
                <a:solidFill>
                  <a:srgbClr val="1E293B"/>
                </a:solidFill>
                <a:latin typeface="Calibri"/>
              </a:rPr>
              <a:t>live backend-health line (polled every 60 s) and an ingest status button</a:t>
            </a:r>
          </a:p>
          <a:p>
            <a:pPr lvl="1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64748B"/>
                </a:solidFill>
              </a:rPr>
              <a:t>–  </a:t>
            </a:r>
            <a:r>
              <a:rPr sz="1300" b="0" i="0">
                <a:solidFill>
                  <a:srgbClr val="1E293B"/>
                </a:solidFill>
                <a:latin typeface="Calibri"/>
              </a:rPr>
              <a:t>the stored chunks, labeled  page N  for PDFs and  speaker @ HH:MM:SS  for transcripts — exactly what the LLM was given</a:t>
            </a:r>
          </a:p>
          <a:p>
            <a:pPr lvl="1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64748B"/>
                </a:solidFill>
              </a:rPr>
              <a:t>–  </a:t>
            </a:r>
            <a:r>
              <a:rPr sz="1300" b="0" i="0">
                <a:solidFill>
                  <a:srgbClr val="1E293B"/>
                </a:solidFill>
                <a:latin typeface="Calibri"/>
              </a:rPr>
              <a:t>role output: narration (explain), guidance + suggestions JSON (inform), rationale + Apply/Cancel (transform &amp; expand)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700" b="1">
                <a:solidFill>
                  <a:srgbClr val="2563EB"/>
                </a:solidFill>
              </a:rPr>
              <a:t>•  </a:t>
            </a:r>
            <a:r>
              <a:rPr sz="1700" b="1" i="0">
                <a:solidFill>
                  <a:srgbClr val="1E293B"/>
                </a:solidFill>
                <a:latin typeface="Calibri"/>
              </a:rPr>
              <a:t>Everything is also emitted on a JSON output port</a:t>
            </a:r>
          </a:p>
          <a:p>
            <a:pPr lvl="1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64748B"/>
                </a:solidFill>
              </a:rPr>
              <a:t>–  </a:t>
            </a:r>
            <a:r>
              <a:rPr sz="1300" b="0" i="0">
                <a:solidFill>
                  <a:srgbClr val="1E293B"/>
                </a:solidFill>
                <a:latin typeface="Calibri"/>
              </a:rPr>
              <a:t>wire it into Simple View to inspect the raw descriptor, retrieved spans, and LLM output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700" b="1">
                <a:solidFill>
                  <a:srgbClr val="2563EB"/>
                </a:solidFill>
              </a:rPr>
              <a:t>•  </a:t>
            </a:r>
            <a:r>
              <a:rPr sz="1700" b="1" i="0">
                <a:solidFill>
                  <a:srgbClr val="1E293B"/>
                </a:solidFill>
                <a:latin typeface="Calibri"/>
              </a:rPr>
              <a:t>State survives refresh and save/reload — the node re-verifies its artifact with the backend on mount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2563EB"/>
                </a:solidFill>
                <a:latin typeface="Calibri"/>
              </a:rPr>
              <a:t>HOW IT'S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E293B"/>
                </a:solidFill>
                <a:latin typeface="Calibri"/>
              </a:rPr>
              <a:t>Architecture: four layers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5486400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82296" cy="22128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45920"/>
            <a:ext cx="5120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2563EB"/>
                </a:solidFill>
                <a:latin typeface="Calibri"/>
              </a:rPr>
              <a:t>1 · Node package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64748B"/>
                </a:solidFill>
                <a:latin typeface="Consolas"/>
              </a:rPr>
              <a:t>packages/curio.softartifact@1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67712"/>
            <a:ext cx="5074920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2563EB"/>
                </a:solidFill>
              </a:rPr>
              <a:t>•  </a:t>
            </a:r>
            <a:r>
              <a:rPr sz="1200" b="0" i="0">
                <a:solidFill>
                  <a:srgbClr val="1E293B"/>
                </a:solidFill>
                <a:latin typeface="Calibri"/>
              </a:rPr>
              <a:t>Registers the template via Curio's package system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2563EB"/>
                </a:solidFill>
              </a:rPr>
              <a:t>•  </a:t>
            </a:r>
            <a:r>
              <a:rPr sz="1200" b="0" i="0">
                <a:solidFill>
                  <a:srgbClr val="1E293B"/>
                </a:solidFill>
                <a:latin typeface="Calibri"/>
              </a:rPr>
              <a:t>UI + behavior in softArtifactBehavior.tsx (React hook)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2563EB"/>
                </a:solidFill>
              </a:rPr>
              <a:t>•  </a:t>
            </a:r>
            <a:r>
              <a:rPr sz="1200" b="0" i="0">
                <a:solidFill>
                  <a:srgbClr val="1E293B"/>
                </a:solidFill>
                <a:latin typeface="Calibri"/>
              </a:rPr>
              <a:t>Talks only to /api/softartifact/*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2563EB"/>
                </a:solidFill>
              </a:rPr>
              <a:t>•  </a:t>
            </a:r>
            <a:r>
              <a:rPr sz="1200" b="0" i="0">
                <a:solidFill>
                  <a:srgbClr val="1E293B"/>
                </a:solidFill>
                <a:latin typeface="Calibri"/>
              </a:rPr>
              <a:t>Persists state on the node as data.softArtifact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1554480"/>
            <a:ext cx="5486400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46520" y="1554480"/>
            <a:ext cx="82296" cy="2212848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645920"/>
            <a:ext cx="5120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059669"/>
                </a:solidFill>
                <a:latin typeface="Calibri"/>
              </a:rPr>
              <a:t>2 · Backend blueprint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64748B"/>
                </a:solidFill>
                <a:latin typeface="Consolas"/>
              </a:rPr>
              <a:t>utk_curio/backend/app/softartifact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267712"/>
            <a:ext cx="5074920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2563EB"/>
                </a:solidFill>
              </a:rPr>
              <a:t>•  </a:t>
            </a:r>
            <a:r>
              <a:rPr sz="1200" b="0" i="0">
                <a:solidFill>
                  <a:srgbClr val="1E293B"/>
                </a:solidFill>
                <a:latin typeface="Calibri"/>
              </a:rPr>
              <a:t>Flask blueprint mounted at /api/softartifact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2563EB"/>
                </a:solidFill>
              </a:rPr>
              <a:t>•  </a:t>
            </a:r>
            <a:r>
              <a:rPr sz="1200" b="0" i="0">
                <a:solidFill>
                  <a:srgbClr val="1E293B"/>
                </a:solidFill>
                <a:latin typeface="Calibri"/>
              </a:rPr>
              <a:t>ingest · retrieve · explain · inform · propose_trill · health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2563EB"/>
                </a:solidFill>
              </a:rPr>
              <a:t>•  </a:t>
            </a:r>
            <a:r>
              <a:rPr sz="1200" b="0" i="0">
                <a:solidFill>
                  <a:srgbClr val="1E293B"/>
                </a:solidFill>
                <a:latin typeface="Calibri"/>
              </a:rPr>
              <a:t>Reuses Curio's LLM config + call helpers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2563EB"/>
                </a:solidFill>
              </a:rPr>
              <a:t>•  </a:t>
            </a:r>
            <a:r>
              <a:rPr sz="1200" b="0" i="0">
                <a:solidFill>
                  <a:srgbClr val="1E293B"/>
                </a:solidFill>
                <a:latin typeface="Calibri"/>
              </a:rPr>
              <a:t>DuckDB storage under .curio/data/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023360"/>
            <a:ext cx="5486400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4023360"/>
            <a:ext cx="82296" cy="221284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114800"/>
            <a:ext cx="5120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D97706"/>
                </a:solidFill>
                <a:latin typeface="Calibri"/>
              </a:rPr>
              <a:t>3 · Host workflow glue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64748B"/>
                </a:solidFill>
                <a:latin typeface="Consolas"/>
              </a:rPr>
              <a:t>urban-workflows (useCode, TrillGenerator)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736592"/>
            <a:ext cx="5074920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2563EB"/>
                </a:solidFill>
              </a:rPr>
              <a:t>•  </a:t>
            </a:r>
            <a:r>
              <a:rPr sz="1200" b="0" i="0">
                <a:solidFill>
                  <a:srgbClr val="1E293B"/>
                </a:solidFill>
                <a:latin typeface="Calibri"/>
              </a:rPr>
              <a:t>Injects getCurrentTrill / applyProposal / cancelProposal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2563EB"/>
                </a:solidFill>
              </a:rPr>
              <a:t>•  </a:t>
            </a:r>
            <a:r>
              <a:rPr sz="1200" b="0" i="0">
                <a:solidFill>
                  <a:srgbClr val="1E293B"/>
                </a:solidFill>
                <a:latin typeface="Calibri"/>
              </a:rPr>
              <a:t>TrillGenerator saves softArtifact into Trill metadata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2563EB"/>
                </a:solidFill>
              </a:rPr>
              <a:t>•  </a:t>
            </a:r>
            <a:r>
              <a:rPr sz="1200" b="0" i="0">
                <a:solidFill>
                  <a:srgbClr val="1E293B"/>
                </a:solidFill>
                <a:latin typeface="Calibri"/>
              </a:rPr>
              <a:t>useCode restores it on load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2563EB"/>
                </a:solidFill>
              </a:rPr>
              <a:t>•  </a:t>
            </a:r>
            <a:r>
              <a:rPr sz="1200" b="0" i="0">
                <a:solidFill>
                  <a:srgbClr val="1E293B"/>
                </a:solidFill>
                <a:latin typeface="Calibri"/>
              </a:rPr>
              <a:t>webpack.packages.config.js builds the bundle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4023360"/>
            <a:ext cx="5486400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46520" y="4023360"/>
            <a:ext cx="82296" cy="22128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4114800"/>
            <a:ext cx="5120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7C3AED"/>
                </a:solidFill>
                <a:latin typeface="Calibri"/>
              </a:rPr>
              <a:t>4 · Prompts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64748B"/>
                </a:solidFill>
                <a:latin typeface="Consolas"/>
              </a:rPr>
              <a:t>utk_curio/llm-prompts/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4736592"/>
            <a:ext cx="5074920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2563EB"/>
                </a:solidFill>
              </a:rPr>
              <a:t>•  </a:t>
            </a:r>
            <a:r>
              <a:rPr sz="1200" b="0" i="0">
                <a:solidFill>
                  <a:srgbClr val="1E293B"/>
                </a:solidFill>
                <a:latin typeface="Calibri"/>
              </a:rPr>
              <a:t>One system prompt per role (4 files)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2563EB"/>
                </a:solidFill>
              </a:rPr>
              <a:t>•  </a:t>
            </a:r>
            <a:r>
              <a:rPr sz="1200" b="0" i="0">
                <a:solidFill>
                  <a:srgbClr val="1E293B"/>
                </a:solidFill>
                <a:latin typeface="Calibri"/>
              </a:rPr>
              <a:t>transform/expand embed the node-type registry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2563EB"/>
                </a:solidFill>
              </a:rPr>
              <a:t>•  </a:t>
            </a:r>
            <a:r>
              <a:rPr sz="1200" b="0" i="0">
                <a:solidFill>
                  <a:srgbClr val="1E293B"/>
                </a:solidFill>
                <a:latin typeface="Calibri"/>
              </a:rPr>
              <a:t>Strict JSON output contract for proposals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2563EB"/>
                </a:solidFill>
              </a:rPr>
              <a:t>•  </a:t>
            </a:r>
            <a:r>
              <a:rPr sz="1200" b="0" i="0">
                <a:solidFill>
                  <a:srgbClr val="1E293B"/>
                </a:solidFill>
                <a:latin typeface="Calibri"/>
              </a:rPr>
              <a:t>Citation rules: only numbered passages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2563EB"/>
                </a:solidFill>
                <a:latin typeface="Calibri"/>
              </a:rPr>
              <a:t>ENDPOINTS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E293B"/>
                </a:solidFill>
                <a:latin typeface="Calibri"/>
              </a:rPr>
              <a:t>Backend API  ·  /api/softartifact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53035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E40AF"/>
                </a:solidFill>
                <a:latin typeface="Consolas"/>
              </a:rPr>
              <a:t>POST /ingest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554480"/>
            <a:ext cx="6035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0" i="0">
                <a:solidFill>
                  <a:srgbClr val="1E293B"/>
                </a:solidFill>
                <a:latin typeface="Calibri"/>
              </a:rPr>
              <a:t>accept file → uuid → chunk → store (DuckDB + on-disk copy)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21408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E40AF"/>
                </a:solidFill>
                <a:latin typeface="Consolas"/>
              </a:rPr>
              <a:t>GET /artifacts/&lt;id&gt;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121408"/>
            <a:ext cx="6035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0" i="0">
                <a:solidFill>
                  <a:srgbClr val="1E293B"/>
                </a:solidFill>
                <a:latin typeface="Calibri"/>
              </a:rPr>
              <a:t>metadata lookup — node re-verifies its artifact after refresh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651760"/>
            <a:ext cx="10972800" cy="53035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688336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E40AF"/>
                </a:solidFill>
                <a:latin typeface="Consolas"/>
              </a:rPr>
              <a:t>GET /artifacts/&lt;id&gt;/chunks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688336"/>
            <a:ext cx="6035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0" i="0">
                <a:solidFill>
                  <a:srgbClr val="1E293B"/>
                </a:solidFill>
                <a:latin typeface="Calibri"/>
              </a:rPr>
              <a:t>all stored chunks, listed in the node 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255264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E40AF"/>
                </a:solidFill>
                <a:latin typeface="Consolas"/>
              </a:rPr>
              <a:t>POST /retrieve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3255264"/>
            <a:ext cx="6035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0" i="0">
                <a:solidFill>
                  <a:srgbClr val="1E293B"/>
                </a:solidFill>
                <a:latin typeface="Calibri"/>
              </a:rPr>
              <a:t>TF-IDF score chunks vs. query → top-k spans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515600" y="3282696"/>
            <a:ext cx="914400" cy="310896"/>
          </a:xfrm>
          <a:prstGeom prst="round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auth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785616"/>
            <a:ext cx="10972800" cy="53035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822192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E40AF"/>
                </a:solidFill>
                <a:latin typeface="Consolas"/>
              </a:rPr>
              <a:t>POST /explain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3822192"/>
            <a:ext cx="6035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0" i="0">
                <a:solidFill>
                  <a:srgbClr val="1E293B"/>
                </a:solidFill>
                <a:latin typeface="Calibri"/>
              </a:rPr>
              <a:t>retrieve → LLM narration with [n] citations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515600" y="3849624"/>
            <a:ext cx="914400" cy="310896"/>
          </a:xfrm>
          <a:prstGeom prst="round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auth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38912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E40AF"/>
                </a:solidFill>
                <a:latin typeface="Consolas"/>
              </a:rPr>
              <a:t>POST /inform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4389120"/>
            <a:ext cx="6035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0" i="0">
                <a:solidFill>
                  <a:srgbClr val="1E293B"/>
                </a:solidFill>
                <a:latin typeface="Calibri"/>
              </a:rPr>
              <a:t>retrieve → LLM guidance + suggested next nodes (JSON)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515600" y="4416552"/>
            <a:ext cx="914400" cy="310896"/>
          </a:xfrm>
          <a:prstGeom prst="round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auth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919472"/>
            <a:ext cx="10972800" cy="53035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956048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E40AF"/>
                </a:solidFill>
                <a:latin typeface="Consolas"/>
              </a:rPr>
              <a:t>POST /propose_trill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4956048"/>
            <a:ext cx="6035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0" i="0">
                <a:solidFill>
                  <a:srgbClr val="1E293B"/>
                </a:solidFill>
                <a:latin typeface="Calibri"/>
              </a:rPr>
              <a:t>all chunks + current Trill + node registry → dataflow proposal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515600" y="4983480"/>
            <a:ext cx="914400" cy="310896"/>
          </a:xfrm>
          <a:prstGeom prst="round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auth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522976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E40AF"/>
                </a:solidFill>
                <a:latin typeface="Consolas"/>
              </a:rPr>
              <a:t>GET /health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5522976"/>
            <a:ext cx="6035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0" i="0">
                <a:solidFill>
                  <a:srgbClr val="1E293B"/>
                </a:solidFill>
                <a:latin typeface="Calibri"/>
              </a:rPr>
              <a:t>liveness probe, polled by the node every 60 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227064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E11D48"/>
                </a:solidFill>
                <a:latin typeface="Calibri"/>
              </a:rPr>
              <a:t>auth</a:t>
            </a:r>
            <a:r>
              <a:rPr sz="1300" b="0" i="0">
                <a:solidFill>
                  <a:srgbClr val="64748B"/>
                </a:solidFill>
                <a:latin typeface="Calibri"/>
              </a:rPr>
              <a:t>  = requires login (session token), same pattern as Curio's other LLM routes.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2563EB"/>
                </a:solidFill>
                <a:latin typeface="Calibri"/>
              </a:rPr>
              <a:t>PIPELINE · INGEST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E293B"/>
                </a:solidFill>
                <a:latin typeface="Calibri"/>
              </a:rPr>
              <a:t>Ingestion: one chunker per document shape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1737360" cy="7772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upload</a:t>
            </a:r>
          </a:p>
          <a:p>
            <a:pPr algn="ctr"/>
            <a:r>
              <a:rPr sz="1050">
                <a:solidFill>
                  <a:srgbClr val="DBEAFE"/>
                </a:solidFill>
              </a:rPr>
              <a:t>.pdf / .txt / .md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377440" y="1984248"/>
            <a:ext cx="411480" cy="0"/>
          </a:xfrm>
          <a:prstGeom prst="bentConnector3">
            <a:avLst/>
          </a:prstGeom>
          <a:ln w="2857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788920" y="1600200"/>
            <a:ext cx="2011680" cy="77724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detect type</a:t>
            </a:r>
          </a:p>
          <a:p>
            <a:pPr algn="ctr"/>
            <a:r>
              <a:rPr sz="1050">
                <a:solidFill>
                  <a:srgbClr val="DBEAFE"/>
                </a:solidFill>
              </a:rPr>
              <a:t>regex transcript profiling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800600" y="1984248"/>
            <a:ext cx="411480" cy="0"/>
          </a:xfrm>
          <a:prstGeom prst="bentConnector3">
            <a:avLst/>
          </a:prstGeom>
          <a:ln w="2857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212080" y="1600200"/>
            <a:ext cx="1737360" cy="77724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chunk</a:t>
            </a:r>
          </a:p>
          <a:p>
            <a:pPr algn="ctr"/>
            <a:r>
              <a:rPr sz="1050">
                <a:solidFill>
                  <a:srgbClr val="DBEAFE"/>
                </a:solidFill>
              </a:rPr>
              <a:t>Chunk dataclass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949440" y="1984248"/>
            <a:ext cx="411480" cy="0"/>
          </a:xfrm>
          <a:prstGeom prst="bentConnector3">
            <a:avLst/>
          </a:prstGeom>
          <a:ln w="2857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360920" y="1600200"/>
            <a:ext cx="2011680" cy="77724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store</a:t>
            </a:r>
          </a:p>
          <a:p>
            <a:pPr algn="ctr"/>
            <a:r>
              <a:rPr sz="1050">
                <a:solidFill>
                  <a:srgbClr val="DBEAFE"/>
                </a:solidFill>
              </a:rPr>
              <a:t>DuckDB + raw file copy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372600" y="1984248"/>
            <a:ext cx="411480" cy="0"/>
          </a:xfrm>
          <a:prstGeom prst="bentConnector3">
            <a:avLst/>
          </a:prstGeom>
          <a:ln w="2857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784080" y="1600200"/>
            <a:ext cx="1783080" cy="77724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artifact_id</a:t>
            </a:r>
          </a:p>
          <a:p>
            <a:pPr algn="ctr"/>
            <a:r>
              <a:rPr sz="1050">
                <a:solidFill>
                  <a:srgbClr val="DBEAFE"/>
                </a:solidFill>
              </a:rPr>
              <a:t>uuid4 → node state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788920"/>
            <a:ext cx="361188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788920"/>
            <a:ext cx="82296" cy="31089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2898648"/>
            <a:ext cx="33009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2563EB"/>
                </a:solidFill>
                <a:latin typeface="Calibri"/>
              </a:rPr>
              <a:t>PDF  →  pdf_page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3264408"/>
            <a:ext cx="3300984" cy="2542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1E293B"/>
                </a:solidFill>
                <a:latin typeface="Calibri"/>
              </a:rPr>
              <a:t>Per-page text extraction with pypdf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1E293B"/>
                </a:solidFill>
                <a:latin typeface="Calibri"/>
              </a:rPr>
              <a:t>Split into ~500-character chunks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1E293B"/>
                </a:solidFill>
                <a:latin typeface="Calibri"/>
              </a:rPr>
              <a:t>Each chunk keeps its 1-based page number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1E293B"/>
                </a:solidFill>
                <a:latin typeface="Calibri"/>
              </a:rPr>
              <a:t>Citations resolve to a page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2788920"/>
            <a:ext cx="361188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34840" y="2788920"/>
            <a:ext cx="82296" cy="310896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36008" y="2898648"/>
            <a:ext cx="33009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059669"/>
                </a:solidFill>
                <a:latin typeface="Calibri"/>
              </a:rPr>
              <a:t>Transcript  →  transcript_turn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36008" y="3264408"/>
            <a:ext cx="3300984" cy="2542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1E293B"/>
                </a:solidFill>
                <a:latin typeface="Calibri"/>
              </a:rPr>
              <a:t>Two formats auto-detected in .txt: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1E293B"/>
                </a:solidFill>
                <a:latin typeface="Calibri"/>
              </a:rPr>
              <a:t>A:  </a:t>
            </a:r>
            <a:r>
              <a:rPr sz="1200" b="0" i="0">
                <a:solidFill>
                  <a:srgbClr val="1E293B"/>
                </a:solidFill>
                <a:latin typeface="Consolas"/>
              </a:rPr>
              <a:t>[Speaker] HH:MM:SS + utterance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1E293B"/>
                </a:solidFill>
                <a:latin typeface="Calibri"/>
              </a:rPr>
              <a:t>B:  </a:t>
            </a:r>
            <a:r>
              <a:rPr sz="1200" b="0" i="0">
                <a:solidFill>
                  <a:srgbClr val="1E293B"/>
                </a:solidFill>
                <a:latin typeface="Consolas"/>
              </a:rPr>
              <a:t>HH:MM:SS caption text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1E293B"/>
                </a:solidFill>
                <a:latin typeface="Calibri"/>
              </a:rPr>
              <a:t>Same-speaker turns ≤25 s apart merge (≤~2000 chars)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1E293B"/>
                </a:solidFill>
                <a:latin typeface="Calibri"/>
              </a:rPr>
              <a:t>Chunks carry speaker, t_start, t_end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2788920"/>
            <a:ext cx="361188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0" y="2788920"/>
            <a:ext cx="82296" cy="310896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30768" y="2898648"/>
            <a:ext cx="33009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D97706"/>
                </a:solidFill>
                <a:latin typeface="Calibri"/>
              </a:rPr>
              <a:t>Text / MD  →  text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30768" y="3264408"/>
            <a:ext cx="3300984" cy="2542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1E293B"/>
                </a:solidFill>
                <a:latin typeface="Calibri"/>
              </a:rPr>
              <a:t>Fixed ~500-character chunks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1E293B"/>
                </a:solidFill>
                <a:latin typeface="Calibri"/>
              </a:rPr>
              <a:t>char_start / char_end offsets kept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1E293B"/>
                </a:solidFill>
                <a:latin typeface="Calibri"/>
              </a:rPr>
              <a:t>Fallback for anything that doesn't profile as a transcript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03504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1E40AF"/>
                </a:solidFill>
                <a:latin typeface="Consolas"/>
              </a:rPr>
              <a:t>Chunk</a:t>
            </a:r>
            <a:r>
              <a:rPr sz="1300" b="0" i="0">
                <a:solidFill>
                  <a:srgbClr val="64748B"/>
                </a:solidFill>
                <a:latin typeface="Calibri"/>
              </a:rPr>
              <a:t> is a frozen dataclass — a pdf_page chunk must carry a page, a transcript_turn must carry speaker + times, a text chunk must carry char offsets.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2563EB"/>
                </a:solidFill>
                <a:latin typeface="Calibri"/>
              </a:rPr>
              <a:t>PIPELINE · SERVE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E293B"/>
                </a:solidFill>
                <a:latin typeface="Calibri"/>
              </a:rPr>
              <a:t>Storage &amp; retrieval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54864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82296" cy="2286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709928"/>
            <a:ext cx="517550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D97706"/>
                </a:solidFill>
                <a:latin typeface="Calibri"/>
              </a:rPr>
              <a:t>DuckDB store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075688"/>
            <a:ext cx="5175504" cy="1719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 i="0">
                <a:solidFill>
                  <a:srgbClr val="1E40AF"/>
                </a:solidFill>
                <a:latin typeface="Consolas"/>
              </a:rPr>
              <a:t>.curio/data/softartifacts.duckdb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 i="0">
                <a:solidFill>
                  <a:srgbClr val="1E293B"/>
                </a:solidFill>
                <a:latin typeface="Consolas"/>
              </a:rPr>
              <a:t>softartifacts</a:t>
            </a:r>
            <a:r>
              <a:rPr sz="1250" b="0" i="0">
                <a:solidFill>
                  <a:srgbClr val="1E293B"/>
                </a:solidFill>
                <a:latin typeface="Calibri"/>
              </a:rPr>
              <a:t>  — artifact_id, source_file, mimetype, kind, created_at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 i="0">
                <a:solidFill>
                  <a:srgbClr val="1E293B"/>
                </a:solidFill>
                <a:latin typeface="Consolas"/>
              </a:rPr>
              <a:t>chunks</a:t>
            </a:r>
            <a:r>
              <a:rPr sz="1250" b="0" i="0">
                <a:solidFill>
                  <a:srgbClr val="1E293B"/>
                </a:solidFill>
                <a:latin typeface="Calibri"/>
              </a:rPr>
              <a:t>  — one row per chunk, PK (artifact_id, chunk_id)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1E293B"/>
                </a:solidFill>
                <a:latin typeface="Calibri"/>
              </a:rPr>
              <a:t>Raw upload also copied to .curio/data/softartifacts/&lt;id&gt;/, with a chunk.json debug dump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069080"/>
            <a:ext cx="54864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4069080"/>
            <a:ext cx="82296" cy="210312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4178808"/>
            <a:ext cx="517550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059669"/>
                </a:solidFill>
                <a:latin typeface="Calibri"/>
              </a:rPr>
              <a:t>TF-IDF retrieval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4544568"/>
            <a:ext cx="5175504" cy="1536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1E293B"/>
                </a:solidFill>
                <a:latin typeface="Calibri"/>
              </a:rPr>
              <a:t>nltk word tokenization → scikit-learn TfidfVectorizer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1E293B"/>
                </a:solidFill>
                <a:latin typeface="Calibri"/>
              </a:rPr>
              <a:t>Cosine similarity of query vs. every chunk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1E293B"/>
                </a:solidFill>
                <a:latin typeface="Calibri"/>
              </a:rPr>
              <a:t>Top-k spans (default 8) with scores, zero-score chunks dropped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1E293B"/>
                </a:solidFill>
                <a:latin typeface="Calibri"/>
              </a:rPr>
              <a:t>explain &amp; inform use role-specific default queries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1600200"/>
            <a:ext cx="51206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46520" y="1600200"/>
            <a:ext cx="82296" cy="2286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47688" y="1709928"/>
            <a:ext cx="48097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2563EB"/>
                </a:solidFill>
                <a:latin typeface="Calibri"/>
              </a:rPr>
              <a:t>LLM plumbing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7688" y="2075688"/>
            <a:ext cx="4809744" cy="1719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1E293B"/>
                </a:solidFill>
                <a:latin typeface="Calibri"/>
              </a:rPr>
              <a:t>Reuses Curio's _resolve_llm_config + _call_llm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1E293B"/>
                </a:solidFill>
                <a:latin typeface="Calibri"/>
              </a:rPr>
              <a:t>Works with whatever provider/model the deployment already configured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1E293B"/>
                </a:solidFill>
                <a:latin typeface="Calibri"/>
              </a:rPr>
              <a:t>Passages formatted as numbered blocks with START TRANSCRIPT / START SCHEMA banners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1E293B"/>
                </a:solidFill>
                <a:latin typeface="Calibri"/>
              </a:rPr>
              <a:t>Current Trill JSON appended as context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4069080"/>
            <a:ext cx="51206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46520" y="4069080"/>
            <a:ext cx="82296" cy="21031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47688" y="4178808"/>
            <a:ext cx="48097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7C3AED"/>
                </a:solidFill>
                <a:latin typeface="Calibri"/>
              </a:rPr>
              <a:t>Transform / expand exception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7688" y="4544568"/>
            <a:ext cx="4809744" cy="1536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1E293B"/>
                </a:solidFill>
                <a:latin typeface="Calibri"/>
              </a:rPr>
              <a:t>Proposals skip retrieval and send ALL chunks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1E293B"/>
                </a:solidFill>
                <a:latin typeface="Calibri"/>
              </a:rPr>
              <a:t>The whole document informs the proposed dataflow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1E293B"/>
                </a:solidFill>
                <a:latin typeface="Calibri"/>
              </a:rPr>
              <a:t>Trade-off: very large docs can exceed model context (v1 known limit)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2563EB"/>
                </a:solidFill>
                <a:latin typeface="Calibri"/>
              </a:rPr>
              <a:t>PROPOSALS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E293B"/>
                </a:solidFill>
                <a:latin typeface="Calibri"/>
              </a:rPr>
              <a:t>Transform &amp; expand: document to runnable canvas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2240280" cy="9144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document chunks</a:t>
            </a:r>
          </a:p>
          <a:p>
            <a:pPr algn="ctr"/>
            <a:r>
              <a:rPr sz="1050">
                <a:solidFill>
                  <a:srgbClr val="DBEAFE"/>
                </a:solidFill>
              </a:rPr>
              <a:t>all of them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88920"/>
            <a:ext cx="2240280" cy="914400"/>
          </a:xfrm>
          <a:prstGeom prst="round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getCurrentTrill()</a:t>
            </a:r>
          </a:p>
          <a:p>
            <a:pPr algn="ctr"/>
            <a:r>
              <a:rPr sz="1050">
                <a:solidFill>
                  <a:srgbClr val="DBEAFE"/>
                </a:solidFill>
              </a:rPr>
              <a:t>live canvas snapshot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931920"/>
            <a:ext cx="2240280" cy="914400"/>
          </a:xfrm>
          <a:prstGeom prst="round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node-type registry</a:t>
            </a:r>
          </a:p>
          <a:p>
            <a:pPr algn="ctr"/>
            <a:r>
              <a:rPr sz="1050">
                <a:solidFill>
                  <a:srgbClr val="DBEAFE"/>
                </a:solidFill>
              </a:rPr>
              <a:t>legal types + in/out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80360" y="2103120"/>
            <a:ext cx="594360" cy="1005840"/>
          </a:xfrm>
          <a:prstGeom prst="bentConnector3">
            <a:avLst/>
          </a:prstGeom>
          <a:ln w="2857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880360" y="3246120"/>
            <a:ext cx="594360" cy="0"/>
          </a:xfrm>
          <a:prstGeom prst="bentConnector3">
            <a:avLst/>
          </a:prstGeom>
          <a:ln w="2857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2880360" y="3383280"/>
            <a:ext cx="594360" cy="1005840"/>
          </a:xfrm>
          <a:prstGeom prst="bentConnector3">
            <a:avLst/>
          </a:prstGeom>
          <a:ln w="2857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474720" y="2788920"/>
            <a:ext cx="2103120" cy="9144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LLM</a:t>
            </a:r>
          </a:p>
          <a:p>
            <a:pPr algn="ctr"/>
            <a:r>
              <a:rPr sz="1050">
                <a:solidFill>
                  <a:srgbClr val="DBEAFE"/>
                </a:solidFill>
              </a:rPr>
              <a:t>role prompt, strict JSON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577840" y="3246120"/>
            <a:ext cx="594360" cy="0"/>
          </a:xfrm>
          <a:prstGeom prst="bentConnector3">
            <a:avLst/>
          </a:prstGeom>
          <a:ln w="2857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172200" y="2788920"/>
            <a:ext cx="2468880" cy="91440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proposal + rationale</a:t>
            </a:r>
          </a:p>
          <a:p>
            <a:pPr algn="ctr"/>
            <a:r>
              <a:rPr sz="1050">
                <a:solidFill>
                  <a:srgbClr val="DBEAFE"/>
                </a:solidFill>
              </a:rPr>
              <a:t>{ dataflow: {name, nodes, edges} }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8641080" y="2560320"/>
            <a:ext cx="594360" cy="502920"/>
          </a:xfrm>
          <a:prstGeom prst="bentConnector3">
            <a:avLst/>
          </a:prstGeom>
          <a:ln w="2857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641080" y="3429000"/>
            <a:ext cx="594360" cy="502920"/>
          </a:xfrm>
          <a:prstGeom prst="bentConnector3">
            <a:avLst/>
          </a:prstGeom>
          <a:ln w="2857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235440" y="2194560"/>
            <a:ext cx="2286000" cy="77724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Apply</a:t>
            </a:r>
          </a:p>
          <a:p>
            <a:pPr algn="ctr"/>
            <a:r>
              <a:rPr sz="1050">
                <a:solidFill>
                  <a:srgbClr val="DBEAFE"/>
                </a:solidFill>
              </a:rPr>
              <a:t>loadTrill onto canvas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3657600"/>
            <a:ext cx="2286000" cy="777240"/>
          </a:xfrm>
          <a:prstGeom prst="round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Cancel</a:t>
            </a:r>
          </a:p>
          <a:p>
            <a:pPr algn="ctr"/>
            <a:r>
              <a:rPr sz="1050">
                <a:solidFill>
                  <a:srgbClr val="DBEAFE"/>
                </a:solidFill>
              </a:rPr>
              <a:t>discard, clear suggestions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892040"/>
            <a:ext cx="11155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 b="1">
                <a:solidFill>
                  <a:srgbClr val="2563EB"/>
                </a:solidFill>
              </a:rPr>
              <a:t>•  </a:t>
            </a:r>
            <a:r>
              <a:rPr sz="1450" b="0" i="0">
                <a:solidFill>
                  <a:srgbClr val="1E293B"/>
                </a:solidFill>
                <a:latin typeface="Calibri"/>
              </a:rPr>
              <a:t>Prompt contract keeps proposals runnable: only registry node types, type-compatible edges, brand-new UUIDs, real code in every node, 3–8 nodes, no orphans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 b="1">
                <a:solidFill>
                  <a:srgbClr val="2563EB"/>
                </a:solidFill>
              </a:rPr>
              <a:t>•  </a:t>
            </a:r>
            <a:r>
              <a:rPr sz="1450" b="0" i="0">
                <a:solidFill>
                  <a:srgbClr val="1E293B"/>
                </a:solidFill>
                <a:latin typeface="Calibri"/>
              </a:rPr>
              <a:t>Always a FULL standalone candidate — never a delta on the existing canvas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 b="1">
                <a:solidFill>
                  <a:srgbClr val="2563EB"/>
                </a:solidFill>
              </a:rPr>
              <a:t>•  </a:t>
            </a:r>
            <a:r>
              <a:rPr sz="1450" b="0" i="0">
                <a:solidFill>
                  <a:srgbClr val="1E293B"/>
                </a:solidFill>
                <a:latin typeface="Calibri"/>
              </a:rPr>
              <a:t>Apply goes through the host's applyProposal(): erases pending workflow suggestions, loads the Trill, and installs any missing package dependencies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2563EB"/>
                </a:solidFill>
                <a:latin typeface="Calibri"/>
              </a:rPr>
              <a:t>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E293B"/>
                </a:solidFill>
                <a:latin typeface="Calibri"/>
              </a:rPr>
              <a:t>Persistence across refresh, save, and reload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265176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82296" cy="26517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847088"/>
            <a:ext cx="234086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On the node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212848"/>
            <a:ext cx="2340864" cy="2084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1E293B"/>
                </a:solidFill>
                <a:latin typeface="Calibri"/>
              </a:rPr>
              <a:t>All role state lives in data.softArtifact: artifact_id, role, status, cached explanation / guidance / proposal, chunk list.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291840" y="3063240"/>
            <a:ext cx="201168" cy="0"/>
          </a:xfrm>
          <a:prstGeom prst="bentConnector3">
            <a:avLst/>
          </a:prstGeom>
          <a:ln w="2857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493008" y="1737360"/>
            <a:ext cx="265176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93008" y="1737360"/>
            <a:ext cx="82296" cy="265176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94176" y="1847088"/>
            <a:ext cx="234086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059669"/>
                </a:solidFill>
                <a:latin typeface="Calibri"/>
              </a:rPr>
              <a:t>Into the Trill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94176" y="2212848"/>
            <a:ext cx="2340864" cy="2084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1E293B"/>
                </a:solidFill>
                <a:latin typeface="Calibri"/>
              </a:rPr>
              <a:t>TrillGenerator copies data.softArtifact into the node's metadata whenever the workflow is saved.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144768" y="3063240"/>
            <a:ext cx="201168" cy="0"/>
          </a:xfrm>
          <a:prstGeom prst="bentConnector3">
            <a:avLst/>
          </a:prstGeom>
          <a:ln w="2857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345936" y="1737360"/>
            <a:ext cx="265176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45936" y="1737360"/>
            <a:ext cx="82296" cy="265176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47104" y="1847088"/>
            <a:ext cx="234086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D97706"/>
                </a:solidFill>
                <a:latin typeface="Calibri"/>
              </a:rPr>
              <a:t>Back 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47104" y="2212848"/>
            <a:ext cx="2340864" cy="2084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1E293B"/>
                </a:solidFill>
                <a:latin typeface="Calibri"/>
              </a:rPr>
              <a:t>useCode.loadTrill restores metadata.softArtifact onto the node when a saved workflow is opened.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997696" y="3063240"/>
            <a:ext cx="201168" cy="0"/>
          </a:xfrm>
          <a:prstGeom prst="bentConnector3">
            <a:avLst/>
          </a:prstGeom>
          <a:ln w="2857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198864" y="1737360"/>
            <a:ext cx="265176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98864" y="1737360"/>
            <a:ext cx="82296" cy="26517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00032" y="1847088"/>
            <a:ext cx="234086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7C3AED"/>
                </a:solidFill>
                <a:latin typeface="Calibri"/>
              </a:rPr>
              <a:t>Re-verified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00032" y="2212848"/>
            <a:ext cx="2340864" cy="2084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1E293B"/>
                </a:solidFill>
                <a:latin typeface="Calibri"/>
              </a:rPr>
              <a:t>On mount the node GETs /artifacts/&lt;id&gt;; if the backend lost the artifact, state resets and asks for a re-upload.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754880"/>
            <a:ext cx="11155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2563EB"/>
                </a:solidFill>
              </a:rPr>
              <a:t>•  </a:t>
            </a:r>
            <a:r>
              <a:rPr sz="1500" b="0" i="0">
                <a:solidFill>
                  <a:srgbClr val="1E293B"/>
                </a:solidFill>
                <a:latin typeface="Calibri"/>
              </a:rPr>
              <a:t>Cached results mean no repeat LLM calls after a refresh — an explain answer renders instantly from node state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2563EB"/>
                </a:solidFill>
              </a:rPr>
              <a:t>•  </a:t>
            </a:r>
            <a:r>
              <a:rPr sz="1500" b="0" i="0">
                <a:solidFill>
                  <a:srgbClr val="1E293B"/>
                </a:solidFill>
                <a:latin typeface="Calibri"/>
              </a:rPr>
              <a:t>The emitted JSON output is re-emitted on verify, so downstream nodes keep working after reload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2563EB"/>
                </a:solidFill>
                <a:latin typeface="Calibri"/>
              </a:rPr>
              <a:t>LIMITATIONS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E293B"/>
                </a:solidFill>
                <a:latin typeface="Calibri"/>
              </a:rPr>
              <a:t>Where v1 stops, and what's next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54864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82296" cy="448056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709928"/>
            <a:ext cx="517550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E11D48"/>
                </a:solidFill>
                <a:latin typeface="Calibri"/>
              </a:rPr>
              <a:t>Known v1 limits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075688"/>
            <a:ext cx="5175504" cy="3913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0" i="0">
                <a:solidFill>
                  <a:srgbClr val="1E293B"/>
                </a:solidFill>
                <a:latin typeface="Calibri"/>
              </a:rPr>
              <a:t>Chunking is size-based (~500 chars), not semantic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0" i="0">
                <a:solidFill>
                  <a:srgbClr val="1E293B"/>
                </a:solidFill>
                <a:latin typeface="Calibri"/>
              </a:rPr>
              <a:t>Retrieval is TF-IDF, not embeddings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0" i="0">
                <a:solidFill>
                  <a:srgbClr val="1E293B"/>
                </a:solidFill>
                <a:latin typeface="Calibri"/>
              </a:rPr>
              <a:t>Transform/expand send every chunk — large docs can exceed model context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0" i="0">
                <a:solidFill>
                  <a:srgbClr val="1E293B"/>
                </a:solidFill>
                <a:latin typeface="Calibri"/>
              </a:rPr>
              <a:t>role accepted at ingest but not persisted server-side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0" i="0">
                <a:solidFill>
                  <a:srgbClr val="1E293B"/>
                </a:solidFill>
                <a:latin typeface="Calibri"/>
              </a:rPr>
              <a:t>.pdf / .txt / .md only; scanned image-only PDFs yield empty text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0" i="0">
                <a:solidFill>
                  <a:srgbClr val="1E293B"/>
                </a:solidFill>
                <a:latin typeface="Calibri"/>
              </a:rPr>
              <a:t>Proposals replace the canvas wholesale (by design of the prompt contract)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1600200"/>
            <a:ext cx="51206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46520" y="1600200"/>
            <a:ext cx="82296" cy="448056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47688" y="1709928"/>
            <a:ext cx="48097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059669"/>
                </a:solidFill>
                <a:latin typeface="Calibri"/>
              </a:rPr>
              <a:t>Natural next steps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47688" y="2075688"/>
            <a:ext cx="4809744" cy="3913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0" i="0">
                <a:solidFill>
                  <a:srgbClr val="1E293B"/>
                </a:solidFill>
                <a:latin typeface="Calibri"/>
              </a:rPr>
              <a:t>Embedding-based retrieval behind the same /retrieve contract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0" i="0">
                <a:solidFill>
                  <a:srgbClr val="1E293B"/>
                </a:solidFill>
                <a:latin typeface="Calibri"/>
              </a:rPr>
              <a:t>Semantic / structure-aware chunking (headings, sections)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0" i="0">
                <a:solidFill>
                  <a:srgbClr val="1E293B"/>
                </a:solidFill>
                <a:latin typeface="Calibri"/>
              </a:rPr>
              <a:t>Retrieval (or map-reduce) for transform/expand on large documents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0" i="0">
                <a:solidFill>
                  <a:srgbClr val="1E293B"/>
                </a:solidFill>
                <a:latin typeface="Calibri"/>
              </a:rPr>
              <a:t>Diff-style proposal preview before Apply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0" i="0">
                <a:solidFill>
                  <a:srgbClr val="1E293B"/>
                </a:solidFill>
                <a:latin typeface="Calibri"/>
              </a:rPr>
              <a:t>More source types: docx, html, audio-to-transcript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359152"/>
            <a:ext cx="128016" cy="6400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228600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Documents become nodes  —  </a:t>
            </a:r>
            <a:r>
              <a:rPr sz="1600" b="0" i="0">
                <a:solidFill>
                  <a:srgbClr val="CBD5E1"/>
                </a:solidFill>
                <a:latin typeface="Calibri"/>
              </a:rPr>
              <a:t>Upload once; the artifact is chunked, stored in DuckDB, and reusable across roles.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319272"/>
            <a:ext cx="128016" cy="6400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324612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Four grounded roles  —  </a:t>
            </a:r>
            <a:r>
              <a:rPr sz="1600" b="0" i="0">
                <a:solidFill>
                  <a:srgbClr val="CBD5E1"/>
                </a:solidFill>
                <a:latin typeface="Calibri"/>
              </a:rPr>
              <a:t>inform · explain · transform · expand — every claim cites a page or a transcript turn.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4279392"/>
            <a:ext cx="128016" cy="6400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420624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Proposals you can apply  —  </a:t>
            </a:r>
            <a:r>
              <a:rPr sz="1600" b="0" i="0">
                <a:solidFill>
                  <a:srgbClr val="CBD5E1"/>
                </a:solidFill>
                <a:latin typeface="Calibri"/>
              </a:rPr>
              <a:t>transform/expand return runnable Trill dataflows; one click loads them onto the canvas.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5239512"/>
            <a:ext cx="128016" cy="6400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516636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Fits Curio's architecture  —  </a:t>
            </a:r>
            <a:r>
              <a:rPr sz="1600" b="0" i="0">
                <a:solidFill>
                  <a:srgbClr val="CBD5E1"/>
                </a:solidFill>
                <a:latin typeface="Calibri"/>
              </a:rPr>
              <a:t>installable node package + Flask blueprint + thin host glue + per-role prompts.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